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239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 txBox="1"/>
          <p:nvPr/>
        </p:nvSpPr>
        <p:spPr>
          <a:xfrm>
            <a:off x="4858207" y="571500"/>
            <a:ext cx="73344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0" b="1" kern="0" spc="-15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36000" dirty="0"/>
          </a:p>
        </p:txBody>
      </p:sp>
      <p:sp>
        <p:nvSpPr>
          <p:cNvPr id="5" name="Text 3"/>
          <p:cNvSpPr txBox="1"/>
          <p:nvPr/>
        </p:nvSpPr>
        <p:spPr>
          <a:xfrm>
            <a:off x="952805" y="2476195"/>
            <a:ext cx="8572500" cy="141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Section 6: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75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Financial Feasibility Analysis 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52805" y="4095598"/>
            <a:ext cx="80970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Positioning and Concept Development | Vaitape Ultra-Luxury Hotel, Bora Bora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952805" y="4905756"/>
            <a:ext cx="761695" cy="2834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52805" y="5191049"/>
            <a:ext cx="8097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institutional-grade asset, engineered for patient capital.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6381598"/>
            <a:ext cx="9525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8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Finesse Group Net Zero Luxury Masterplan | Internal — Confidential |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476756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2476195"/>
            <a:ext cx="1333195" cy="666598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2476195" y="2476195"/>
            <a:ext cx="1333195" cy="666598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4190695" y="2476195"/>
            <a:ext cx="1333195" cy="666598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5905195" y="2476195"/>
            <a:ext cx="1333195" cy="666598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7810805" y="1952244"/>
            <a:ext cx="3619195" cy="2667305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7810805" y="1952244"/>
            <a:ext cx="3619195" cy="2834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761695" y="4858207"/>
            <a:ext cx="10668305" cy="104790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761695" y="4858207"/>
            <a:ext cx="28346" cy="104790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0"/>
          <p:cNvSpPr txBox="1"/>
          <p:nvPr/>
        </p:nvSpPr>
        <p:spPr>
          <a:xfrm>
            <a:off x="761695" y="381305"/>
            <a:ext cx="106683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 Framework and Methodology</a:t>
            </a:r>
            <a:endParaRPr lang="en-US" sz="33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952805"/>
            <a:ext cx="112242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HVS Income-Capitalisation and DCF, anchored to RICS Red Book valuation principles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952244"/>
            <a:ext cx="6477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Three-step analytical sequence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" y="2700223"/>
            <a:ext cx="1239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2700223"/>
            <a:ext cx="1239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238244" y="2700223"/>
            <a:ext cx="1239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52744" y="2700223"/>
            <a:ext cx="1239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Value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095805" y="2671877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3810305" y="2671877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524805" y="2671877"/>
            <a:ext cx="381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61695" y="323880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 × Occupancy × Keys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476195" y="323880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Rooms + 35% non-room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190695" y="323880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− Opex − Fees − FF&amp;E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905195" y="323880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 ÷ Cap Rate or DCF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953451" y="2095805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framework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143646" y="2371954"/>
            <a:ext cx="31437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HVS framework is the lingua franca of hotel feasibility — used by all major institutional investors and lenders globally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143646" y="2988259"/>
            <a:ext cx="31437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RICS Red Book independence standards force exclusion of connected-party benchmarks, ensuring the verdict survives external due-diligence scrutiny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143646" y="3784702"/>
            <a:ext cx="31437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Horwath HTL procedural sequence corroborates HVS, providing methodological triangulation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47902" y="5000854"/>
            <a:ext cx="10096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WHAT: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Section 6 answers the three questions that matter at IC level: (1) What return is generated? (2) Is it above hurdle? (3) Does it survive stress? A single methodology used across three corroborating frameworks is what gives the verdict its institutional credibility. 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61695" y="6096305"/>
            <a:ext cx="11354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HVS [22] — Mellen, How to Test Hotel Feasibility (2018, rev. 2022); RICS Valuation Global Standards (Red Book), 2022/2024; Horwath HTL [2] — Strategic Growth &amp; Development Framework, 2025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761695" y="6476695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429207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2143354"/>
            <a:ext cx="3333902" cy="3000146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4429354" y="2143354"/>
            <a:ext cx="3333902" cy="3000146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8096098" y="2143354"/>
            <a:ext cx="3333902" cy="3000146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761695" y="5333695"/>
            <a:ext cx="5257800" cy="905256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761695" y="5333695"/>
            <a:ext cx="19202" cy="90525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6191402" y="5333695"/>
            <a:ext cx="5257800" cy="905256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6191402" y="5333695"/>
            <a:ext cx="19202" cy="90525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761695" y="4819802"/>
            <a:ext cx="3333902" cy="323698"/>
          </a:xfrm>
          <a:prstGeom prst="rect">
            <a:avLst/>
          </a:prstGeom>
          <a:solidFill>
            <a:srgbClr val="B89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4429354" y="4819802"/>
            <a:ext cx="3333902" cy="323698"/>
          </a:xfrm>
          <a:prstGeom prst="rect">
            <a:avLst/>
          </a:prstGeom>
          <a:solidFill>
            <a:srgbClr val="B89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1"/>
          <p:cNvSpPr/>
          <p:nvPr/>
        </p:nvSpPr>
        <p:spPr>
          <a:xfrm>
            <a:off x="8096098" y="4819802"/>
            <a:ext cx="3333902" cy="323698"/>
          </a:xfrm>
          <a:prstGeom prst="rect">
            <a:avLst/>
          </a:prstGeom>
          <a:solidFill>
            <a:srgbClr val="B89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/>
          <p:cNvSpPr txBox="1"/>
          <p:nvPr/>
        </p:nvSpPr>
        <p:spPr>
          <a:xfrm>
            <a:off x="761695" y="381305"/>
            <a:ext cx="106683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 Headline Verdict</a:t>
            </a:r>
            <a:endParaRPr lang="en-US" sz="33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1000354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three primary KPIs clear in both Base Case and Stress Case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1571854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Vaitape Ultra-Luxury Hotel is unambiguously financially viable under HVS — Development Yield, IRR, and NPV all clear their hurdles in the Base Case, with viability preserved under severe simultaneous demand-and-pricing stress.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2333549"/>
            <a:ext cx="2953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13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KPI 01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2486254"/>
            <a:ext cx="2953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Yield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2752344"/>
            <a:ext cx="2953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Hurdle: ≥ 6.5% cap rate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2805" y="3010205"/>
            <a:ext cx="2952598" cy="91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52805" y="3133649"/>
            <a:ext cx="29535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11.3%</a:t>
            </a:r>
            <a:endParaRPr lang="en-US" sz="3300" dirty="0"/>
          </a:p>
        </p:txBody>
      </p:sp>
      <p:sp>
        <p:nvSpPr>
          <p:cNvPr id="23" name="Text 19"/>
          <p:cNvSpPr txBox="1"/>
          <p:nvPr/>
        </p:nvSpPr>
        <p:spPr>
          <a:xfrm>
            <a:off x="952805" y="3590849"/>
            <a:ext cx="2953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 +480 bps</a:t>
            </a:r>
            <a:endParaRPr lang="en-US" sz="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2805" y="3838651"/>
            <a:ext cx="2952598" cy="91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52805" y="3962095"/>
            <a:ext cx="29535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</a:t>
            </a:r>
            <a:endParaRPr lang="en-US" sz="3300" dirty="0"/>
          </a:p>
        </p:txBody>
      </p:sp>
      <p:sp>
        <p:nvSpPr>
          <p:cNvPr id="26" name="Text 21"/>
          <p:cNvSpPr txBox="1"/>
          <p:nvPr/>
        </p:nvSpPr>
        <p:spPr>
          <a:xfrm>
            <a:off x="952805" y="4419295"/>
            <a:ext cx="2953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Case +170 bps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4886554"/>
            <a:ext cx="3333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PASS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4619549" y="2333549"/>
            <a:ext cx="2953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13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KPI 02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4619549" y="2486254"/>
            <a:ext cx="2953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Unleveraged IRR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4619549" y="2752344"/>
            <a:ext cx="2953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Hurdle: 8–12% patient-capital band</a:t>
            </a:r>
            <a:endParaRPr lang="en-US" sz="9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4619549" y="3010205"/>
            <a:ext cx="2952598" cy="91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619549" y="3133649"/>
            <a:ext cx="29535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13.2%</a:t>
            </a:r>
            <a:endParaRPr lang="en-US" sz="3300" dirty="0"/>
          </a:p>
        </p:txBody>
      </p:sp>
      <p:sp>
        <p:nvSpPr>
          <p:cNvPr id="33" name="Text 27"/>
          <p:cNvSpPr txBox="1"/>
          <p:nvPr/>
        </p:nvSpPr>
        <p:spPr>
          <a:xfrm>
            <a:off x="4619549" y="3590849"/>
            <a:ext cx="2953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 Above band</a:t>
            </a:r>
            <a:endParaRPr lang="en-US" sz="8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4619549" y="3838651"/>
            <a:ext cx="2952598" cy="91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619549" y="3962095"/>
            <a:ext cx="29535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9.1%</a:t>
            </a:r>
            <a:endParaRPr lang="en-US" sz="3300" dirty="0"/>
          </a:p>
        </p:txBody>
      </p:sp>
      <p:sp>
        <p:nvSpPr>
          <p:cNvPr id="36" name="Text 29"/>
          <p:cNvSpPr txBox="1"/>
          <p:nvPr/>
        </p:nvSpPr>
        <p:spPr>
          <a:xfrm>
            <a:off x="4619549" y="4419295"/>
            <a:ext cx="2953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Case Within band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4429354" y="4886554"/>
            <a:ext cx="3333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PASS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287207" y="2333549"/>
            <a:ext cx="2953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13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KPI 03</a:t>
            </a:r>
            <a:endParaRPr lang="en-US" sz="800" dirty="0"/>
          </a:p>
        </p:txBody>
      </p:sp>
      <p:sp>
        <p:nvSpPr>
          <p:cNvPr id="39" name="Text 32"/>
          <p:cNvSpPr txBox="1"/>
          <p:nvPr/>
        </p:nvSpPr>
        <p:spPr>
          <a:xfrm>
            <a:off x="8287207" y="2486254"/>
            <a:ext cx="2953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Present Value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8287207" y="2752344"/>
            <a:ext cx="2953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Hurdle: Positive at patient-capital rate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8287207" y="3010205"/>
            <a:ext cx="2952598" cy="91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287207" y="3133649"/>
            <a:ext cx="2953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+USD 27.6M</a:t>
            </a:r>
            <a:endParaRPr lang="en-US" sz="2800" dirty="0"/>
          </a:p>
        </p:txBody>
      </p:sp>
      <p:sp>
        <p:nvSpPr>
          <p:cNvPr id="43" name="Text 35"/>
          <p:cNvSpPr txBox="1"/>
          <p:nvPr/>
        </p:nvSpPr>
        <p:spPr>
          <a:xfrm>
            <a:off x="8287207" y="3534156"/>
            <a:ext cx="2953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 @ 7% hurdle</a:t>
            </a:r>
            <a:endParaRPr lang="en-US" sz="8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8287207" y="3781044"/>
            <a:ext cx="2952598" cy="91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8287207" y="3905402"/>
            <a:ext cx="2953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+USD 8.1M</a:t>
            </a:r>
            <a:endParaRPr lang="en-US" sz="2800" dirty="0"/>
          </a:p>
        </p:txBody>
      </p:sp>
      <p:sp>
        <p:nvSpPr>
          <p:cNvPr id="46" name="Text 37"/>
          <p:cNvSpPr txBox="1"/>
          <p:nvPr/>
        </p:nvSpPr>
        <p:spPr>
          <a:xfrm>
            <a:off x="8287207" y="4304995"/>
            <a:ext cx="2953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Case @ 7% hurdle</a:t>
            </a:r>
            <a:endParaRPr lang="en-US" sz="800" dirty="0"/>
          </a:p>
        </p:txBody>
      </p:sp>
      <p:sp>
        <p:nvSpPr>
          <p:cNvPr id="47" name="Text 38"/>
          <p:cNvSpPr txBox="1"/>
          <p:nvPr/>
        </p:nvSpPr>
        <p:spPr>
          <a:xfrm>
            <a:off x="8096098" y="4886554"/>
            <a:ext cx="3333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PASS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895198" y="5410505"/>
            <a:ext cx="4972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CAPITAL-ARCHETYPE CALIBRATION (NPV @ 11% PE HURDLE)</a:t>
            </a:r>
            <a:endParaRPr lang="en-US" sz="800" dirty="0"/>
          </a:p>
        </p:txBody>
      </p:sp>
      <p:sp>
        <p:nvSpPr>
          <p:cNvPr id="49" name="Text 40"/>
          <p:cNvSpPr txBox="1"/>
          <p:nvPr/>
        </p:nvSpPr>
        <p:spPr>
          <a:xfrm>
            <a:off x="895198" y="5581498"/>
            <a:ext cx="4972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Case: +USD 7.7M </a:t>
            </a: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| Stress Case: −USD 5.7M </a:t>
            </a:r>
            <a:r>
              <a:rPr lang="en-US" sz="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— by design</a:t>
            </a:r>
            <a:endParaRPr lang="en-US" sz="800" dirty="0"/>
          </a:p>
        </p:txBody>
      </p:sp>
      <p:sp>
        <p:nvSpPr>
          <p:cNvPr id="50" name="Text 41"/>
          <p:cNvSpPr txBox="1"/>
          <p:nvPr/>
        </p:nvSpPr>
        <p:spPr>
          <a:xfrm>
            <a:off x="895198" y="5753405"/>
            <a:ext cx="4972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negative NPV at 11% under Stress is a calibration signal, not a failure — it confirms patient capital, not closed-end PE, is the correct capital archetype.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6324905" y="5410505"/>
            <a:ext cx="4972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VALUE SURPLUS (KPI 1 REFERENCE)</a:t>
            </a:r>
            <a:endParaRPr lang="en-US" sz="800" dirty="0"/>
          </a:p>
        </p:txBody>
      </p:sp>
      <p:sp>
        <p:nvSpPr>
          <p:cNvPr id="52" name="Text 43"/>
          <p:cNvSpPr txBox="1"/>
          <p:nvPr/>
        </p:nvSpPr>
        <p:spPr>
          <a:xfrm>
            <a:off x="6324905" y="5581498"/>
            <a:ext cx="4972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Implied Asset Value: USD 73.3M Base / USD 52.7M Stress</a:t>
            </a:r>
            <a:endParaRPr lang="en-US" sz="800" dirty="0"/>
          </a:p>
        </p:txBody>
      </p:sp>
      <p:sp>
        <p:nvSpPr>
          <p:cNvPr id="53" name="Text 44"/>
          <p:cNvSpPr txBox="1"/>
          <p:nvPr/>
        </p:nvSpPr>
        <p:spPr>
          <a:xfrm>
            <a:off x="6324905" y="5734202"/>
            <a:ext cx="4972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Total Development Cost: USD 42.0M</a:t>
            </a:r>
            <a:endParaRPr lang="en-US" sz="800" dirty="0"/>
          </a:p>
        </p:txBody>
      </p:sp>
      <p:sp>
        <p:nvSpPr>
          <p:cNvPr id="54" name="Text 45"/>
          <p:cNvSpPr txBox="1"/>
          <p:nvPr/>
        </p:nvSpPr>
        <p:spPr>
          <a:xfrm>
            <a:off x="6324905" y="5886907"/>
            <a:ext cx="4972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Value-creation surplus: </a:t>
            </a:r>
            <a:r>
              <a:rPr lang="en-US" sz="8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31.3M Base</a:t>
            </a:r>
            <a:r>
              <a:rPr lang="en-US" sz="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</a:t>
            </a:r>
            <a:r>
              <a:rPr lang="en-US" sz="8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10.7M Stress</a:t>
            </a:r>
            <a:endParaRPr lang="en-US" sz="800" dirty="0"/>
          </a:p>
        </p:txBody>
      </p:sp>
      <p:sp>
        <p:nvSpPr>
          <p:cNvPr id="55" name="Text 46"/>
          <p:cNvSpPr txBox="1"/>
          <p:nvPr/>
        </p:nvSpPr>
        <p:spPr>
          <a:xfrm>
            <a:off x="761695" y="6334049"/>
            <a:ext cx="10668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analytical reasoning behind each metric's clearance — including levered-IRR potential and break-point analysis — at the end of this section (slide 9).</a:t>
            </a:r>
            <a:endParaRPr lang="en-US" sz="800" dirty="0"/>
          </a:p>
        </p:txBody>
      </p:sp>
      <p:sp>
        <p:nvSpPr>
          <p:cNvPr id="56" name="Text 47"/>
          <p:cNvSpPr txBox="1"/>
          <p:nvPr/>
        </p:nvSpPr>
        <p:spPr>
          <a:xfrm>
            <a:off x="761695" y="6505956"/>
            <a:ext cx="11354105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HVS [22] — Mellen, How to Test Hotel Feasibility (2018, rev. 2022); JLL [45] — APAC Hotel Investor Sentiment Survey, 2024; Horwath HTL [2] — Strategic Growth &amp; Development Framework, 2025; Vaitape Hotel Feasibility Model v3</a:t>
            </a:r>
            <a:endParaRPr lang="en-US" sz="800" dirty="0"/>
          </a:p>
        </p:txBody>
      </p:sp>
      <p:sp>
        <p:nvSpPr>
          <p:cNvPr id="57" name="Text 48"/>
          <p:cNvSpPr txBox="1"/>
          <p:nvPr/>
        </p:nvSpPr>
        <p:spPr>
          <a:xfrm>
            <a:off x="761695" y="6667805"/>
            <a:ext cx="106683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714500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904695"/>
            <a:ext cx="3238805" cy="476402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761695" y="3762756"/>
            <a:ext cx="3238805" cy="157185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761695" y="3762756"/>
            <a:ext cx="19202" cy="157185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4476902" y="1904695"/>
            <a:ext cx="3238805" cy="476402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4476902" y="3762756"/>
            <a:ext cx="3238805" cy="157185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476902" y="3762756"/>
            <a:ext cx="19202" cy="157185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8191195" y="1904695"/>
            <a:ext cx="3238805" cy="476402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8191195" y="3762756"/>
            <a:ext cx="3238805" cy="157185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8191195" y="3762756"/>
            <a:ext cx="19202" cy="157185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1"/>
          <p:cNvSpPr/>
          <p:nvPr/>
        </p:nvSpPr>
        <p:spPr>
          <a:xfrm>
            <a:off x="761695" y="5477256"/>
            <a:ext cx="10668305" cy="76169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2"/>
          <p:cNvSpPr/>
          <p:nvPr/>
        </p:nvSpPr>
        <p:spPr>
          <a:xfrm>
            <a:off x="761695" y="5477256"/>
            <a:ext cx="28346" cy="761695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3"/>
          <p:cNvSpPr txBox="1"/>
          <p:nvPr/>
        </p:nvSpPr>
        <p:spPr>
          <a:xfrm>
            <a:off x="761695" y="286207"/>
            <a:ext cx="10668305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 The Investment Case: How the Numbers Are Built</a:t>
            </a:r>
            <a:endParaRPr lang="en-US" sz="3300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1333195"/>
            <a:ext cx="111785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sequential build-ups — each independently triangulated against external benchmarks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" y="1971446"/>
            <a:ext cx="18388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6.3.1 Demand → Revenue: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Diversification Engine 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00354" y="247619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2,150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(mid-upper CompSet entry)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00354" y="2701138"/>
            <a:ext cx="30010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(HVS midpoint, 60–70% range)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00354" y="3112618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TRevPAR uplift: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+35%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non-room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00354" y="3337560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24.1M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" y="3905402"/>
            <a:ext cx="2953512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</a:t>
            </a:r>
            <a:r>
              <a:rPr lang="en-US" sz="9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35% non-room mix is the single most important resilience lever — it provides a revenue floor when room demand softens, and was independently triangulated to satisfy RICS independence flags after the connected-party 65% benchmark was excluded. 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619549" y="1971446"/>
            <a:ext cx="1648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6.3.2 Revenue → NOI: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Disciplined P&amp;L Stack 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14646" y="2476195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expenses: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revenue (Horwath APAC upper-midpoint of 67–78%)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714646" y="2862072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fee: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 base + 8% incentive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on GOP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714646" y="3247034"/>
            <a:ext cx="3001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FF&amp;E reserve: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revenue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714646" y="3458261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 margin: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19.8%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→ NOI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4.76M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(Base) /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3.43M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(Stress)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619549" y="3905402"/>
            <a:ext cx="29535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</a:t>
            </a:r>
            <a:r>
              <a:rPr lang="en-US" sz="9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72% opex is deliberately conservative for a 35-key boutique — efficient operators can run at 67–70%, providing 200–500bps of latent margin upside not currently in the model. 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334756" y="2057400"/>
            <a:ext cx="28684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6.3.3 NOI → Asset Value &amp; Returns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429854" y="2476195"/>
            <a:ext cx="35652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rate: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(JLL APAC midpoint of 5.5–7.5%)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9854" y="2688336"/>
            <a:ext cx="33549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DCF: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12-year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hold (2-3yr build + 10yr ops)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429854" y="2899562"/>
            <a:ext cx="3001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13.2%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Base /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Stress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9854" y="3111703"/>
            <a:ext cx="3001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NPV @ 7%: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+USD 27.6M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Base /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+USD 8.1M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Stress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334756" y="3905402"/>
            <a:ext cx="29535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</a:t>
            </a:r>
            <a:r>
              <a:rPr lang="en-US" sz="9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Cap rate and DCF methods converge on the same verdict — methodological convergence is what survives scrutiny in a contested transaction. 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00354" y="5572354"/>
            <a:ext cx="10191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WHAT:</a:t>
            </a: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layer of the build is independently sourced and conservatively calibrated. The verdict is not the product of one optimistic assumption — it is the product of three sequential, externally-benchmarked steps, any one of which could be stressed without breaking the gate-clearance result. 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761695" y="6334049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HVS [22]; STR [37] — Bora Bora &amp; South Pacific Luxury Resort Benchmarks, 2024; Four Seasons &amp; Marriott (St. Regis) [49] — Published Rate Cards, 2025; Aman Resorts [148] — Property Rate Cards, 2026; Horwath HTL [2] — APAC Operator Agreement Benchmarks, 2024; JLL [45] — APAC Hotel Investor Sentiment, 2024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761695" y="6620256"/>
            <a:ext cx="10668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333195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24598" y="1524305"/>
            <a:ext cx="3905402" cy="95280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7524598" y="1524305"/>
            <a:ext cx="19202" cy="952805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7524598" y="2553005"/>
            <a:ext cx="3905402" cy="76169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7524598" y="2553005"/>
            <a:ext cx="19202" cy="761695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7524598" y="3390595"/>
            <a:ext cx="3905402" cy="95280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7524598" y="3390595"/>
            <a:ext cx="19202" cy="952805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7524598" y="4419295"/>
            <a:ext cx="3905402" cy="76169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7524598" y="4419295"/>
            <a:ext cx="19202" cy="761695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761695" y="5381244"/>
            <a:ext cx="10668305" cy="76169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Shape 11"/>
          <p:cNvSpPr/>
          <p:nvPr/>
        </p:nvSpPr>
        <p:spPr>
          <a:xfrm>
            <a:off x="761695" y="5381244"/>
            <a:ext cx="28346" cy="761695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2"/>
          <p:cNvSpPr txBox="1"/>
          <p:nvPr/>
        </p:nvSpPr>
        <p:spPr>
          <a:xfrm>
            <a:off x="761695" y="381305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 The Investment Case: P&amp;L Build to NOI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952805"/>
            <a:ext cx="11354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USD 24.1M revenue to USD 4.76M NOI — every line is benchmarked, no line is aggressive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1524305"/>
            <a:ext cx="6477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 P&amp;L Waterfall (USD M)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761695" y="1809598"/>
            <a:ext cx="6476695" cy="33339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667244" y="1571854"/>
            <a:ext cx="3667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Opex 72%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7667244" y="1752905"/>
            <a:ext cx="36676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Sits at the upper-midpoint of Horwath HTL's APAC range (67–78%). Conservative for a boutique scale; an Aman/Capella-grade operator could compress this by 200–500bps once stabilised.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7667244" y="2600554"/>
            <a:ext cx="3667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Mgmt Fee 3% + 8%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67244" y="2781605"/>
            <a:ext cx="36676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ultra-luxury operator structure. The 8% incentive on GOP creates aligned interests — operator only earns the kicker if GOP improves.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7667244" y="3438144"/>
            <a:ext cx="3667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FF&amp;E Reserve 3%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7667244" y="3619195"/>
            <a:ext cx="36676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of the HVS 3–5% range. Represents minimum institutional discipline; insurance/SWF investors typically require 4%, presenting a small downside if hold structure shifts.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7667244" y="4466844"/>
            <a:ext cx="3667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 USD 4.76M / 19.8% margin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7667244" y="4647895"/>
            <a:ext cx="36676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Sits within Horwath HTL's 18–25% NOI range for boutique ultra-luxury. Mid-range placement = capacity for upside if operator runs efficiently, but no over-promising.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47902" y="5477256"/>
            <a:ext cx="10096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WHAT:</a:t>
            </a: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Every deduction line is benchmarked at the conservative end of its industry range. The 19.8% NOI margin is the floor, not the ceiling — efficient operation could lift this to 22–24% without changing any structural assumption. 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61695" y="6238951"/>
            <a:ext cx="1105326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Horwath HTL [2] — APAC Operator Agreement Benchmarks, 2024; HVS [22] — How to Test Hotel Feasibility; HVS Performance Report data; Vaitape Hotel Feasibility Model v3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761695" y="6524244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333195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24598" y="1524305"/>
            <a:ext cx="3905402" cy="333390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7524598" y="1524305"/>
            <a:ext cx="19202" cy="333390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761695" y="5143500"/>
            <a:ext cx="10668305" cy="76169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761695" y="5143500"/>
            <a:ext cx="28346" cy="761695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6"/>
          <p:cNvSpPr txBox="1"/>
          <p:nvPr/>
        </p:nvSpPr>
        <p:spPr>
          <a:xfrm>
            <a:off x="761695" y="381305"/>
            <a:ext cx="122383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6.4 Sensitivity: Where the Investability Floor Lies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952805"/>
            <a:ext cx="11354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Yield holds above the 8% institutional floor across 16 of 25 stress combinations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1524305"/>
            <a:ext cx="6477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Yield (NOI ÷ USD 42M Capex) — ADR vs Occupancy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904695"/>
          <a:ext cx="6477610" cy="2581351"/>
        </p:xfrm>
        <a:graphic>
          <a:graphicData uri="http://schemas.openxmlformats.org/drawingml/2006/table">
            <a:tbl>
              <a:tblPr/>
              <a:tblGrid>
                <a:gridCol w="1293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51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0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ADR (USD)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 45%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 50%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 55%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 65% (Base)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 75%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1,828 (−15%)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8.2%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1,935 (−10%)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7.9%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2,150 (Base)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7.9%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92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89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89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28575" cap="flat" cmpd="sng" algn="ctr">
                      <a:solidFill>
                        <a:srgbClr val="B89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2,365 (+10%)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89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2,472 (+15%)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5895" marR="75895" marT="95098" marB="95098" anchor="ctr">
                    <a:lnL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1695" y="4809744"/>
            <a:ext cx="6477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&lt;8% (white) | 8–10% (mid grey) | &gt;10% (dark grey) | Base (gold)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15707" y="1666951"/>
            <a:ext cx="3525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readout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905902" y="1971446"/>
            <a:ext cx="3875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of 25 cells clear the 8% institutional floor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905902" y="2305202"/>
            <a:ext cx="33339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cells fall below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but ALL require simultaneous ADR shortfall AND sub-55% occupancy, a combination with no historical precedent in 20 years of Bora Bora luxury data (STR/JLL 2003–2023)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905902" y="3238805"/>
            <a:ext cx="3333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Break-point: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viability fails only at combined ADR shortfall &gt;25% AND occupancy &lt;50%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7905902" y="3771900"/>
            <a:ext cx="3333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Asymmetric upside: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+15%/+15% case yields 15.0% — institutional-PE territory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047902" y="5286146"/>
            <a:ext cx="10096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WHAT:</a:t>
            </a: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asymmetry is the story: downside requires two simultaneous shocks with no historical precedent; upside is achievable through a single lever (operator selection). Risk-reward is structurally skewed in the project's favour. 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61695" y="6096305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STR [44] — Bora Bora Luxury Hotel Historical Performance 2003–2023; JLL [45]; Vaitape Hotel Feasibility Model v3 (Appendix C.4)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761695" y="6476695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333195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000854"/>
            <a:ext cx="10668305" cy="9052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761695" y="5000854"/>
            <a:ext cx="28346" cy="90525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 txBox="1"/>
          <p:nvPr/>
        </p:nvSpPr>
        <p:spPr>
          <a:xfrm>
            <a:off x="761695" y="381305"/>
            <a:ext cx="112937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 Material Caveats and Upside Levers Excluded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952805"/>
            <a:ext cx="108018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material upsides held in reserve — both would strengthen, not weaken, the verdict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524305"/>
            <a:ext cx="10668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 Items: Conservatism Ledger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904695"/>
          <a:ext cx="10668305" cy="2457907"/>
        </p:xfrm>
        <a:graphic>
          <a:graphicData uri="http://schemas.openxmlformats.org/drawingml/2006/table">
            <a:tbl>
              <a:tblPr/>
              <a:tblGrid>
                <a:gridCol w="3730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8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3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Excluded Item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90195" marR="190195" marT="114300" marB="1143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Rationale &amp; Latent Value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90195" marR="190195" marT="114300" marB="11430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3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Connected-party TRevPAR benchmark — 65% non-room premium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5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(KPMG / Polynesia Consulting, 2025)</a:t>
                      </a:r>
                      <a:endParaRPr lang="en-US" sz="1200" dirty="0"/>
                    </a:p>
                  </a:txBody>
                  <a:tcPr marL="190195" marR="190195" marT="152705" marB="152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Excluded under RICS Red Book Section 1 traceability — co-author serves as local project representative, triggering independence flag. Replaced with conservative 35% independent triangulation. If independently re-validated, would lift Total Revenue from USD 24.1M to </a:t>
                      </a:r>
                      <a:r>
                        <a:rPr lang="en-US" sz="1125" b="1" dirty="0">
                          <a:solidFill>
                            <a:srgbClr val="B892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~USD 28.6M</a:t>
                      </a: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and NOI by </a:t>
                      </a:r>
                      <a:r>
                        <a:rPr lang="en-US" sz="1125" b="1" dirty="0">
                          <a:solidFill>
                            <a:srgbClr val="B892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~USD 1.3M</a:t>
                      </a: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 </a:t>
                      </a:r>
                      <a:endParaRPr lang="en-US" sz="1200" dirty="0"/>
                    </a:p>
                  </a:txBody>
                  <a:tcPr marL="190195" marR="190195" marT="152705" marB="152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3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LODEOM (Defisc) Tax Credit — Code Général des Impôts, Article 199 undecies B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90195" marR="190195" marT="152705" marB="152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25% credit on productive overseas investments, capped at XPF 500M (</a:t>
                      </a:r>
                      <a:r>
                        <a:rPr lang="en-US" sz="1125" b="1" dirty="0">
                          <a:solidFill>
                            <a:srgbClr val="B892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~USD 4.18M</a:t>
                      </a: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). Treated as 'upside-only' lever — not embedded in IRR/NPV. Inclusion would compress effective Capex to </a:t>
                      </a:r>
                      <a:r>
                        <a:rPr lang="en-US" sz="1125" b="1" dirty="0">
                          <a:solidFill>
                            <a:srgbClr val="B892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~USD 37.8M</a:t>
                      </a: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and lift IRR by </a:t>
                      </a:r>
                      <a:r>
                        <a:rPr lang="en-US" sz="1125" b="1" dirty="0">
                          <a:solidFill>
                            <a:srgbClr val="B892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~110bps</a:t>
                      </a: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 </a:t>
                      </a:r>
                      <a:endParaRPr lang="en-US" sz="1200" dirty="0"/>
                    </a:p>
                  </a:txBody>
                  <a:tcPr marL="190195" marR="190195" marT="152705" marB="152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047902" y="5095951"/>
            <a:ext cx="10096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WHAT: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Both excluded levers are real, accessible, and material. Their absence from the headline verdict is a feature, not a bug — it ensures the verdict survives any external due-diligence challenge. They become discussion-table value when negotiating with operators or capital partners. 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6048756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KPMG / Polynesia Consulting (2025) — Tourist Accommodation French Polynesia; RICS Red Book; Code Général des Impôts Article 199 undecies B; KPMG French Polynesia (2024) — Tax Sheet 3 Defisc/LODEOM, p.29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6524244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476756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01207" y="1666951"/>
            <a:ext cx="5429707" cy="2000707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6001207" y="1666951"/>
            <a:ext cx="19202" cy="2000707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761695" y="5905195"/>
            <a:ext cx="10668305" cy="571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761695" y="5905195"/>
            <a:ext cx="28346" cy="571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6"/>
          <p:cNvSpPr txBox="1"/>
          <p:nvPr/>
        </p:nvSpPr>
        <p:spPr>
          <a:xfrm>
            <a:off x="761695" y="381305"/>
            <a:ext cx="1247424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 Total Capital Requirement and Operator Selection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905256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selection is the highest-leverage commercial decision — a single choice can shift IRR by 200–300bps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666951"/>
          <a:ext cx="4763110" cy="1895551"/>
        </p:xfrm>
        <a:graphic>
          <a:graphicData uri="http://schemas.openxmlformats.org/drawingml/2006/table">
            <a:tbl>
              <a:tblPr/>
              <a:tblGrid>
                <a:gridCol w="2381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11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Capital Requirement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Development Cost (35 keys × USD 1.2M/key)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USD 42.0M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Pre-opening Costs (6.5% of Capex)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USD 2.73M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1A2E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Capital Requirement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1A2E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USD 44.73M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1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Yield on Total Capital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B892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10.6%</a:t>
                      </a:r>
                      <a:endParaRPr lang="en-US" sz="112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191402" y="1809598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Pre-opening Drag Assessment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191402" y="2095805"/>
            <a:ext cx="50484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Pre-opening at 6.5% sits at the mid-point of the HVS/Horwath HTL benchmark range (Low 5.0% / Mid 6.5% / High 8.0%). The yield-on-total-capital metric (10.6%) remains comfortably above the 8% institutional floor — confirming that pre-opening drag does not undermine viability.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10" b="-10"/>
          <a:stretch/>
        </p:blipFill>
        <p:spPr>
          <a:xfrm>
            <a:off x="761695" y="3810305"/>
            <a:ext cx="10668305" cy="20007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47902" y="5952744"/>
            <a:ext cx="101919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WHAT:</a:t>
            </a: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Aman selection alone could lift IRR from 13.2% to 14–16% — moving the project from patient-capital territory into institutional-PE territory without changing any other assumption. This single decision carries more financial leverage than any structural cost optimisation available. 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6524244"/>
            <a:ext cx="10668305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HVS [24] — Hotel Development Cost Survey 2023/24; Horwath HTL / HVS Pre-Opening Cost Benchmarks (2022); Aman Resorts [21]; Capella [15][16]; Six Senses [18]; Rosewood [20]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6687007"/>
            <a:ext cx="10668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285646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476756"/>
            <a:ext cx="2381098" cy="1190549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761695" y="2809951"/>
            <a:ext cx="10668305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1695" y="2952598"/>
            <a:ext cx="2381098" cy="1429207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761695" y="4476902"/>
            <a:ext cx="10668305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1695" y="4619549"/>
            <a:ext cx="2381098" cy="1190549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5"/>
          <p:cNvSpPr/>
          <p:nvPr/>
        </p:nvSpPr>
        <p:spPr>
          <a:xfrm>
            <a:off x="761695" y="5905195"/>
            <a:ext cx="10668305" cy="47640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Shape 6"/>
          <p:cNvSpPr/>
          <p:nvPr/>
        </p:nvSpPr>
        <p:spPr>
          <a:xfrm>
            <a:off x="761695" y="5905195"/>
            <a:ext cx="28346" cy="47640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7"/>
          <p:cNvSpPr txBox="1"/>
          <p:nvPr/>
        </p:nvSpPr>
        <p:spPr>
          <a:xfrm>
            <a:off x="761695" y="381305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Conclusions: Why the Verdict Holds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905256"/>
            <a:ext cx="10668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Reiterating 6.2 with the analytical reasoning that earned each KPI clearance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905256" y="1666951"/>
            <a:ext cx="20958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KPI 1</a:t>
            </a:r>
            <a:endParaRPr lang="en-US" sz="12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31.3M Surplus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Why It's Real 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619195" y="1476756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Value (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73.3M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is computed two ways — Cap Rate (NOI ÷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and 12-year DCF — both converging on the same band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3619195" y="1906524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74.4%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surplus over development cost is large enough to absorb (a) cost overruns up to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(b) cap-rate expansion of up to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200bps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(c) NOI shortfall of up to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and still clear KPI 1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3619195" y="2337206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luxury developments in APAC typically deliver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30–50%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surpluses; Vaitape's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 structural outlier driven by Bora Bora's supply-constrained micro-market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" y="3191256"/>
            <a:ext cx="2095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KPI 2</a:t>
            </a:r>
            <a:endParaRPr lang="en-US" sz="12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13.2% IRR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Why It's the Right Capital Match 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619195" y="2952598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13.2%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sits above the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8–12%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patient-capital band but below the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15%+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closed-end PE threshold — placing the asset cleanly in sovereign wealth / family office / insurance balance-sheet territory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3619195" y="3383280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an 11% PE hurdle, NPV is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+USD 7.7M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Base but turns NEGATIVE (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-USD 5.7M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under Stress — confirming PE is the wrong capital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3619195" y="3813962"/>
            <a:ext cx="8496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patient-capital hurdle, NPV is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+USD 27.6M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Base /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+USD 8.1M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Stress — robust under both scenarios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619195" y="4057193"/>
            <a:ext cx="8115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IRR is real-return, unleveraged: with prudent gearing (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40–50%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levered IRR could reach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17–19%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905256" y="4809744"/>
            <a:ext cx="20958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KPI 3</a:t>
            </a:r>
            <a:endParaRPr lang="en-US" sz="12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480bps Alpha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Why It Matters 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3619195" y="4619549"/>
            <a:ext cx="8496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Yield (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11.3%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vs Cap Rate (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=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480bps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value creation captured by building rather than acquiring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619195" y="4863694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alpha is the structural justification for taking development risk over acquisition risk — without it, the patient-capital archetype would prefer a stabilised acquisition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3619195" y="5293462"/>
            <a:ext cx="7810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Stress (Dev Yield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vs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cap), alpha compresses to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170bps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but remains positive — meaning even under stress, building beats buying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952805" y="5952744"/>
            <a:ext cx="10287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WHAT:</a:t>
            </a: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KPI clearance is not a single number but a structural margin. The verdict is robust to multiple simultaneous downward pressures — that structural robustness is what defines an institutional-grade asset. 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61695" y="6476695"/>
            <a:ext cx="10668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HVS [22]; JLL [45]; Horwath HTL [5] — Feasibility Meets Strategy: Market-Driven Hotel Development, 2025; Vaitape Hotel Feasibility Model v3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761695" y="6648602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5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761695" y="1571854"/>
            <a:ext cx="10668305" cy="192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809598"/>
            <a:ext cx="3333902" cy="35716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3"/>
          <p:cNvSpPr/>
          <p:nvPr/>
        </p:nvSpPr>
        <p:spPr>
          <a:xfrm>
            <a:off x="4429354" y="1809598"/>
            <a:ext cx="3333902" cy="35716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4"/>
          <p:cNvSpPr/>
          <p:nvPr/>
        </p:nvSpPr>
        <p:spPr>
          <a:xfrm>
            <a:off x="8096098" y="1809598"/>
            <a:ext cx="3333902" cy="35716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761695" y="5572354"/>
            <a:ext cx="10668305" cy="571500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761695" y="1809598"/>
            <a:ext cx="3333902" cy="381305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429354" y="1809598"/>
            <a:ext cx="3333902" cy="381305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8096098" y="1809598"/>
            <a:ext cx="3333902" cy="381305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9"/>
          <p:cNvSpPr txBox="1"/>
          <p:nvPr/>
        </p:nvSpPr>
        <p:spPr>
          <a:xfrm>
            <a:off x="761695" y="381305"/>
            <a:ext cx="10668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— Investor Archetype, Capital Structuring &amp; Next Steps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1190549"/>
            <a:ext cx="10668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patient capital to a 10-year+ hold; initiate operator EOI within the quarter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57707" y="1904695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ARCHETYPE MATCH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123798" y="2286000"/>
            <a:ext cx="2781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FIT: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Sovereign wealth funds, family offices, insurance balance sheets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23798" y="2741371"/>
            <a:ext cx="2781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return: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7–9%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unleveraged real returns over 10yr+ hold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23798" y="3196742"/>
            <a:ext cx="27816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fit: NPV resilient under both Base and Stress at 7% hurdle; asset class matches long-duration liability profiles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3798" y="3832250"/>
            <a:ext cx="27816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NON-FIT: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Closed-end PE (15%+ hurdle, 5–7yr hold) — NPV turns negative under stress at 11% hurdle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4486961"/>
            <a:ext cx="29535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matching is not a preference — it is a structural requirement. The wrong capital partner will value the asset incorrectly.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24451" y="1904695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STRUCTURING RECOMMENDATION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791456" y="2286000"/>
            <a:ext cx="30723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high-cost capital (&gt;11% hurdle)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791456" y="2561234"/>
            <a:ext cx="2781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40–50% prudent gearing — levered IRR could reach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17–19%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791456" y="3016606"/>
            <a:ext cx="27816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LODEOM tax credit and connected-party TRevPAR as upside levers held in reserve for negotiation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791456" y="3652114"/>
            <a:ext cx="27816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Concept-to-Feasibility 10-point coherence audit: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PASSED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across all dimensions (192 sqm/key GFA; ADR USD 2,150 vs CompSet; Dev Yield 11.3% vs 6.5% cap; Stress IRR 9.1% vs 8–12% band)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191195" y="1904695"/>
            <a:ext cx="3143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NEXT STEPS (0–9 MONTHS)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458200" y="2286000"/>
            <a:ext cx="27816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simultaneous EOI to all 5 shortlisted operators (Aman, Capella, Six Senses, Rosewood, One&amp;Only)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58200" y="2921508"/>
            <a:ext cx="291236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6–9 month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operator selection window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3196742"/>
            <a:ext cx="27816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Independently re-validate the 65% non-room TRevPAR benchmark (would lift NOI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~USD 1.3M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if confirmed)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58200" y="3832250"/>
            <a:ext cx="27816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LODEOM eligibility with French Polynesia tax authorities (would lift IRR </a:t>
            </a:r>
            <a:r>
              <a:rPr lang="en-US" sz="10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~110bps</a:t>
            </a: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if eligible)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58200" y="4467758"/>
            <a:ext cx="27816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sovereign wealth / family office capital outreach in parallel with operator EOI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09905" y="5743346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Vaitape Ultra-Luxury Hotel is institutional-grade by every measure tested. The work ahead is </a:t>
            </a:r>
            <a:r>
              <a:rPr lang="en-US" sz="1300" b="1" dirty="0">
                <a:solidFill>
                  <a:srgbClr val="B89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— not validation</a:t>
            </a: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61695" y="6238951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HVS [22]; Horwath HTL [5]; KPMG French Polynesia (2024); Aman [21]; Capella [15][16]; Six Senses [18]; Rosewood [20]; Vaitape Hotel Feasibility Model v3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761695" y="6524244"/>
            <a:ext cx="10668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Vaitape Hotel — Section 6 Financial Feasibility | Source: Vaitape Hotel Feasibility Model v3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2863</Words>
  <Application>Microsoft Office PowerPoint</Application>
  <PresentationFormat>Widescreen</PresentationFormat>
  <Paragraphs>236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Ling LIEW</cp:lastModifiedBy>
  <cp:revision>1</cp:revision>
  <dcterms:created xsi:type="dcterms:W3CDTF">2026-04-29T08:53:45Z</dcterms:created>
  <dcterms:modified xsi:type="dcterms:W3CDTF">2026-04-29T08:55:00Z</dcterms:modified>
</cp:coreProperties>
</file>